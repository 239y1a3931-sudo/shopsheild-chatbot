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645920"/>
            <a:ext cx="4754880" cy="4754880"/>
          </a:xfrm>
          <a:prstGeom prst="ellipse">
            <a:avLst/>
          </a:prstGeom>
          <a:solidFill>
            <a:srgbClr val="0E7C86">
              <a:alpha val="16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5120640"/>
            <a:ext cx="3291840" cy="3291840"/>
          </a:xfrm>
          <a:prstGeom prst="ellipse">
            <a:avLst/>
          </a:prstGeom>
          <a:solidFill>
            <a:srgbClr val="14B8B8">
              <a:alpha val="1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257800" y="1417320"/>
            <a:ext cx="1645920" cy="1645920"/>
          </a:xfrm>
          <a:prstGeom prst="ellipse">
            <a:avLst/>
          </a:prstGeom>
          <a:solidFill>
            <a:srgbClr val="0E7C86"/>
          </a:solidFill>
          <a:ln/>
        </p:spPr>
      </p:sp>
      <p:pic>
        <p:nvPicPr>
          <p:cNvPr id="5" name="Image 0" descr="/home/claude/shopshield_chat/icons/cha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71770" y="1631290"/>
            <a:ext cx="1217981" cy="121798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0" y="3246120"/>
            <a:ext cx="12161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0" b="1" spc="30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SHOPSHIELD AI</a:t>
            </a:r>
            <a:endParaRPr lang="en-US" sz="5000" dirty="0"/>
          </a:p>
        </p:txBody>
      </p:sp>
      <p:sp>
        <p:nvSpPr>
          <p:cNvPr id="7" name="Text 4"/>
          <p:cNvSpPr/>
          <p:nvPr/>
        </p:nvSpPr>
        <p:spPr>
          <a:xfrm>
            <a:off x="0" y="4160520"/>
            <a:ext cx="1216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Conversational Cybersecurity Chatbot</a:t>
            </a:r>
            <a:endParaRPr lang="en-US" sz="2200" dirty="0"/>
          </a:p>
        </p:txBody>
      </p:sp>
      <p:sp>
        <p:nvSpPr>
          <p:cNvPr id="8" name="Shape 5"/>
          <p:cNvSpPr/>
          <p:nvPr/>
        </p:nvSpPr>
        <p:spPr>
          <a:xfrm>
            <a:off x="5897880" y="4892040"/>
            <a:ext cx="54864" cy="54864"/>
          </a:xfrm>
          <a:prstGeom prst="ellipse">
            <a:avLst/>
          </a:prstGeom>
          <a:solidFill>
            <a:srgbClr val="14B8B8"/>
          </a:solidFill>
          <a:ln/>
        </p:spPr>
      </p:sp>
      <p:sp>
        <p:nvSpPr>
          <p:cNvPr id="9" name="Shape 6"/>
          <p:cNvSpPr/>
          <p:nvPr/>
        </p:nvSpPr>
        <p:spPr>
          <a:xfrm>
            <a:off x="6080760" y="4892040"/>
            <a:ext cx="54864" cy="54864"/>
          </a:xfrm>
          <a:prstGeom prst="ellipse">
            <a:avLst/>
          </a:prstGeom>
          <a:solidFill>
            <a:srgbClr val="14B8B8"/>
          </a:solidFill>
          <a:ln/>
        </p:spPr>
      </p:sp>
      <p:sp>
        <p:nvSpPr>
          <p:cNvPr id="10" name="Shape 7"/>
          <p:cNvSpPr/>
          <p:nvPr/>
        </p:nvSpPr>
        <p:spPr>
          <a:xfrm>
            <a:off x="6263640" y="4892040"/>
            <a:ext cx="54864" cy="54864"/>
          </a:xfrm>
          <a:prstGeom prst="ellipse">
            <a:avLst/>
          </a:prstGeom>
          <a:solidFill>
            <a:srgbClr val="14B8B8"/>
          </a:solidFill>
          <a:ln/>
        </p:spPr>
      </p:sp>
      <p:sp>
        <p:nvSpPr>
          <p:cNvPr id="11" name="Text 8"/>
          <p:cNvSpPr/>
          <p:nvPr/>
        </p:nvSpPr>
        <p:spPr>
          <a:xfrm>
            <a:off x="0" y="5166360"/>
            <a:ext cx="1216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FA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Naturally. Analyze Websites. Stay Protected.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0" y="6263640"/>
            <a:ext cx="1216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 Python + LLM (Qwen2.5) + Requests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62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3749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 static checker isn't enough anymore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383280" cy="402336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851660" y="2240280"/>
            <a:ext cx="777240" cy="777240"/>
          </a:xfrm>
          <a:prstGeom prst="ellipse">
            <a:avLst/>
          </a:prstGeom>
          <a:solidFill>
            <a:srgbClr val="0E7C86"/>
          </a:solidFill>
          <a:ln/>
        </p:spPr>
      </p:sp>
      <p:pic>
        <p:nvPicPr>
          <p:cNvPr id="6" name="Image 0" descr="/home/claude/shopshield_chat/icons/warn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52701" y="2341321"/>
            <a:ext cx="575158" cy="57515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3246120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162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Users have questions, not just links</a:t>
            </a:r>
            <a:endParaRPr lang="en-US" sz="1650" dirty="0"/>
          </a:p>
        </p:txBody>
      </p:sp>
      <p:sp>
        <p:nvSpPr>
          <p:cNvPr id="8" name="Text 5"/>
          <p:cNvSpPr/>
          <p:nvPr/>
        </p:nvSpPr>
        <p:spPr>
          <a:xfrm>
            <a:off x="841248" y="3977640"/>
            <a:ext cx="2798064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749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want to ask "is this safe?" or "how do scams work?" — not just paste a URL into a form.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251960" y="1828800"/>
            <a:ext cx="3383280" cy="402336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554980" y="2240280"/>
            <a:ext cx="777240" cy="777240"/>
          </a:xfrm>
          <a:prstGeom prst="ellipse">
            <a:avLst/>
          </a:prstGeom>
          <a:solidFill>
            <a:srgbClr val="0E7C86"/>
          </a:solidFill>
          <a:ln/>
        </p:spPr>
      </p:sp>
      <p:pic>
        <p:nvPicPr>
          <p:cNvPr id="11" name="Image 1" descr="/home/claude/shopshield_chat/icons/glob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56021" y="2341321"/>
            <a:ext cx="575158" cy="57515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26280" y="3246120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162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Threats evolve constantly</a:t>
            </a:r>
            <a:endParaRPr lang="en-US" sz="1650" dirty="0"/>
          </a:p>
        </p:txBody>
      </p:sp>
      <p:sp>
        <p:nvSpPr>
          <p:cNvPr id="13" name="Text 9"/>
          <p:cNvSpPr/>
          <p:nvPr/>
        </p:nvSpPr>
        <p:spPr>
          <a:xfrm>
            <a:off x="4544568" y="3977640"/>
            <a:ext cx="2798064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749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phishing tactics appear daily; users need guidance, not only a pass/fail verdict.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7955280" y="1828800"/>
            <a:ext cx="3383280" cy="402336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258300" y="2240280"/>
            <a:ext cx="777240" cy="777240"/>
          </a:xfrm>
          <a:prstGeom prst="ellipse">
            <a:avLst/>
          </a:prstGeom>
          <a:solidFill>
            <a:srgbClr val="0E7C86"/>
          </a:solidFill>
          <a:ln/>
        </p:spPr>
      </p:sp>
      <p:pic>
        <p:nvPicPr>
          <p:cNvPr id="16" name="Image 2" descr="/home/claude/shopshield_chat/icons/usershiel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59341" y="2341321"/>
            <a:ext cx="575158" cy="57515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229600" y="3246120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162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Security advice needs context</a:t>
            </a:r>
            <a:endParaRPr lang="en-US" sz="1650" dirty="0"/>
          </a:p>
        </p:txBody>
      </p:sp>
      <p:sp>
        <p:nvSpPr>
          <p:cNvPr id="18" name="Text 13"/>
          <p:cNvSpPr/>
          <p:nvPr/>
        </p:nvSpPr>
        <p:spPr>
          <a:xfrm>
            <a:off x="8247888" y="3977640"/>
            <a:ext cx="2798064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749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risk label rarely explains what to actually do next — users need a conversation.</a:t>
            </a:r>
            <a:endParaRPr lang="en-US" sz="1250" dirty="0"/>
          </a:p>
        </p:txBody>
      </p:sp>
      <p:sp>
        <p:nvSpPr>
          <p:cNvPr id="19" name="Text 14"/>
          <p:cNvSpPr/>
          <p:nvPr/>
        </p:nvSpPr>
        <p:spPr>
          <a:xfrm>
            <a:off x="548640" y="59893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need: </a:t>
            </a:r>
            <a:pPr algn="ctr" indent="0" marL="0">
              <a:buNone/>
            </a:pPr>
            <a:r>
              <a:rPr lang="en-US" sz="1350" dirty="0">
                <a:solidFill>
                  <a:srgbClr val="3749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 chatbot that combines natural conversation with real website risk analysis.</a:t>
            </a:r>
            <a:endParaRPr lang="en-US" sz="1350" dirty="0"/>
          </a:p>
        </p:txBody>
      </p:sp>
      <p:sp>
        <p:nvSpPr>
          <p:cNvPr id="20" name="Text 15"/>
          <p:cNvSpPr/>
          <p:nvPr/>
        </p:nvSpPr>
        <p:spPr>
          <a:xfrm>
            <a:off x="11338560" y="651052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7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Solution Overview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chatbot, two intelligent modes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646420" y="1965960"/>
            <a:ext cx="914400" cy="914400"/>
          </a:xfrm>
          <a:prstGeom prst="ellipse">
            <a:avLst/>
          </a:prstGeom>
          <a:solidFill>
            <a:srgbClr val="0E7C86"/>
          </a:solidFill>
          <a:ln/>
        </p:spPr>
      </p:sp>
      <p:pic>
        <p:nvPicPr>
          <p:cNvPr id="5" name="Image 0" descr="/home/claude/shopshield_chat/icons/lay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5292" y="2084832"/>
            <a:ext cx="676656" cy="67665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0" y="29260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Message Router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160520" y="329184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FA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Detects if the message is a URL or a question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3246120" y="3703320"/>
            <a:ext cx="2606040" cy="502920"/>
          </a:xfrm>
          <a:prstGeom prst="line">
            <a:avLst/>
          </a:prstGeom>
          <a:noFill/>
          <a:ln w="19050">
            <a:solidFill>
              <a:srgbClr val="14B8B8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309360" y="3703320"/>
            <a:ext cx="2606040" cy="502920"/>
          </a:xfrm>
          <a:prstGeom prst="line">
            <a:avLst/>
          </a:prstGeom>
          <a:noFill/>
          <a:ln w="19050">
            <a:solidFill>
              <a:srgbClr val="14B8B8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48640" y="4251960"/>
            <a:ext cx="5120640" cy="1920240"/>
          </a:xfrm>
          <a:prstGeom prst="roundRect">
            <a:avLst>
              <a:gd name="adj" fmla="val 5714"/>
            </a:avLst>
          </a:prstGeom>
          <a:solidFill>
            <a:srgbClr val="121B2E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868680" y="4544568"/>
            <a:ext cx="685800" cy="685800"/>
          </a:xfrm>
          <a:prstGeom prst="ellipse">
            <a:avLst/>
          </a:prstGeom>
          <a:solidFill>
            <a:srgbClr val="E63946"/>
          </a:solidFill>
          <a:ln/>
        </p:spPr>
      </p:sp>
      <p:pic>
        <p:nvPicPr>
          <p:cNvPr id="12" name="Image 1" descr="/home/claude/shopshield_chat/icons/search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7834" y="4633722"/>
            <a:ext cx="507492" cy="50749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691640" y="448056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Website Analysis Mode</a:t>
            </a:r>
            <a:endParaRPr lang="en-US" sz="1550" dirty="0"/>
          </a:p>
        </p:txBody>
      </p:sp>
      <p:sp>
        <p:nvSpPr>
          <p:cNvPr id="14" name="Text 10"/>
          <p:cNvSpPr/>
          <p:nvPr/>
        </p:nvSpPr>
        <p:spPr>
          <a:xfrm>
            <a:off x="1691640" y="4910328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8FA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Triggered when the message contains a URL. Runs live trust checks on the site.</a:t>
            </a:r>
            <a:endParaRPr lang="en-US" sz="1150" dirty="0"/>
          </a:p>
        </p:txBody>
      </p:sp>
      <p:sp>
        <p:nvSpPr>
          <p:cNvPr id="15" name="Text 11"/>
          <p:cNvSpPr/>
          <p:nvPr/>
        </p:nvSpPr>
        <p:spPr>
          <a:xfrm>
            <a:off x="868680" y="566928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  •  Status Code  •  Contact Page  •  Refund Policy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6492240" y="4251960"/>
            <a:ext cx="5120640" cy="1920240"/>
          </a:xfrm>
          <a:prstGeom prst="roundRect">
            <a:avLst>
              <a:gd name="adj" fmla="val 5714"/>
            </a:avLst>
          </a:prstGeom>
          <a:solidFill>
            <a:srgbClr val="121B2E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812280" y="4544568"/>
            <a:ext cx="685800" cy="685800"/>
          </a:xfrm>
          <a:prstGeom prst="ellipse">
            <a:avLst/>
          </a:prstGeom>
          <a:solidFill>
            <a:srgbClr val="2DD4BF"/>
          </a:solidFill>
          <a:ln/>
        </p:spPr>
      </p:sp>
      <p:pic>
        <p:nvPicPr>
          <p:cNvPr id="18" name="Image 2" descr="/home/claude/shopshield_chat/icons/brai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1434" y="4633722"/>
            <a:ext cx="507492" cy="50749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7635240" y="448056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Conversational AI Mode</a:t>
            </a:r>
            <a:endParaRPr lang="en-US" sz="1550" dirty="0"/>
          </a:p>
        </p:txBody>
      </p:sp>
      <p:sp>
        <p:nvSpPr>
          <p:cNvPr id="20" name="Text 15"/>
          <p:cNvSpPr/>
          <p:nvPr/>
        </p:nvSpPr>
        <p:spPr>
          <a:xfrm>
            <a:off x="7635240" y="4910328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8FA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Triggered for general questions. A local LLM answers as "CatBot", a cybersecurity assistant.</a:t>
            </a:r>
            <a:endParaRPr lang="en-US" sz="1150" dirty="0"/>
          </a:p>
        </p:txBody>
      </p:sp>
      <p:sp>
        <p:nvSpPr>
          <p:cNvPr id="21" name="Text 16"/>
          <p:cNvSpPr/>
          <p:nvPr/>
        </p:nvSpPr>
        <p:spPr>
          <a:xfrm>
            <a:off x="6812280" y="566928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Powered by Qwen2.5 via local Ollama server</a:t>
            </a:r>
            <a:endParaRPr lang="en-US" sz="1050" dirty="0"/>
          </a:p>
        </p:txBody>
      </p:sp>
      <p:sp>
        <p:nvSpPr>
          <p:cNvPr id="22" name="Text 17"/>
          <p:cNvSpPr/>
          <p:nvPr/>
        </p:nvSpPr>
        <p:spPr>
          <a:xfrm>
            <a:off x="11338560" y="651052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7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Chatbot Logic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3749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 logic — deciding between analysis and conversation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7040880" cy="4892040"/>
          </a:xfrm>
          <a:prstGeom prst="roundRect">
            <a:avLst>
              <a:gd name="adj" fmla="val 1495"/>
            </a:avLst>
          </a:prstGeom>
          <a:solidFill>
            <a:srgbClr val="0B1220"/>
          </a:solidFill>
          <a:ln/>
          <a:effectLst>
            <a:outerShdw sx="100000" sy="100000" kx="0" ky="0" algn="bl" rotWithShape="0" blurRad="127000" dist="38100" dir="54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709928"/>
            <a:ext cx="128016" cy="128016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6" name="Shape 4"/>
          <p:cNvSpPr/>
          <p:nvPr/>
        </p:nvSpPr>
        <p:spPr>
          <a:xfrm>
            <a:off x="1033272" y="1709928"/>
            <a:ext cx="128016" cy="128016"/>
          </a:xfrm>
          <a:prstGeom prst="ellipse">
            <a:avLst/>
          </a:prstGeom>
          <a:solidFill>
            <a:srgbClr val="E9C46A"/>
          </a:solidFill>
          <a:ln/>
        </p:spPr>
      </p:sp>
      <p:sp>
        <p:nvSpPr>
          <p:cNvPr id="7" name="Shape 5"/>
          <p:cNvSpPr/>
          <p:nvPr/>
        </p:nvSpPr>
        <p:spPr>
          <a:xfrm>
            <a:off x="1289304" y="1709928"/>
            <a:ext cx="128016" cy="128016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1920240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3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chatbot.py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77240" y="2377440"/>
            <a:ext cx="6583680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chat_with_ai(message):</a:t>
            </a:r>
            <a:endParaRPr lang="en-US" sz="13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EAF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"http" in message or "www." in message:</a:t>
            </a:r>
            <a:endParaRPr lang="en-US" sz="13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8FA3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# Website Analysis Mode</a:t>
            </a:r>
            <a:endParaRPr lang="en-US" sz="13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EAF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features = analyze_website(url)</a:t>
            </a:r>
            <a:endParaRPr lang="en-US" sz="13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EAF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risk = score_risk(features)</a:t>
            </a:r>
            <a:endParaRPr lang="en-US" sz="13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14B8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build_report(url, features, risk)</a:t>
            </a:r>
            <a:endParaRPr lang="en-US" sz="13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EAF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else:</a:t>
            </a:r>
            <a:endParaRPr lang="en-US" sz="13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8FA3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# Conversational AI Mode</a:t>
            </a:r>
            <a:endParaRPr lang="en-US" sz="13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EAF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reply = query_llm(model="qwen2.5:1.5b",</a:t>
            </a:r>
            <a:endParaRPr lang="en-US" sz="13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EAF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prompt=message)</a:t>
            </a:r>
            <a:endParaRPr lang="en-US" sz="13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14B8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reply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7818120" y="1508760"/>
            <a:ext cx="37490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8046720" y="1783080"/>
            <a:ext cx="594360" cy="594360"/>
          </a:xfrm>
          <a:prstGeom prst="ellipse">
            <a:avLst/>
          </a:prstGeom>
          <a:solidFill>
            <a:srgbClr val="0E7C86"/>
          </a:solidFill>
          <a:ln/>
        </p:spPr>
      </p:sp>
      <p:pic>
        <p:nvPicPr>
          <p:cNvPr id="12" name="Image 0" descr="/home/claude/shopshield_chat/icons/searc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23987" y="1860347"/>
            <a:ext cx="439826" cy="439826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8823960" y="170992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URL Detected</a:t>
            </a:r>
            <a:endParaRPr lang="en-US" sz="1450" dirty="0"/>
          </a:p>
        </p:txBody>
      </p:sp>
      <p:sp>
        <p:nvSpPr>
          <p:cNvPr id="14" name="Text 11"/>
          <p:cNvSpPr/>
          <p:nvPr/>
        </p:nvSpPr>
        <p:spPr>
          <a:xfrm>
            <a:off x="8823960" y="210312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3749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live HTTPS, status, contact &amp; refund checks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7818120" y="3172968"/>
            <a:ext cx="37490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8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8046720" y="3447288"/>
            <a:ext cx="594360" cy="594360"/>
          </a:xfrm>
          <a:prstGeom prst="ellipse">
            <a:avLst/>
          </a:prstGeom>
          <a:solidFill>
            <a:srgbClr val="0E7C86"/>
          </a:solidFill>
          <a:ln/>
        </p:spPr>
      </p:sp>
      <p:pic>
        <p:nvPicPr>
          <p:cNvPr id="17" name="Image 1" descr="/home/claude/shopshield_chat/icons/brai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23987" y="3524555"/>
            <a:ext cx="439826" cy="439826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8823960" y="3374136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 Detected</a:t>
            </a:r>
            <a:endParaRPr lang="en-US" sz="1450" dirty="0"/>
          </a:p>
        </p:txBody>
      </p:sp>
      <p:sp>
        <p:nvSpPr>
          <p:cNvPr id="19" name="Text 15"/>
          <p:cNvSpPr/>
          <p:nvPr/>
        </p:nvSpPr>
        <p:spPr>
          <a:xfrm>
            <a:off x="8823960" y="3767328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3749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Routes to the local LLM for a natural-language reply</a:t>
            </a:r>
            <a:endParaRPr lang="en-US" sz="1150" dirty="0"/>
          </a:p>
        </p:txBody>
      </p:sp>
      <p:sp>
        <p:nvSpPr>
          <p:cNvPr id="20" name="Shape 16"/>
          <p:cNvSpPr/>
          <p:nvPr/>
        </p:nvSpPr>
        <p:spPr>
          <a:xfrm>
            <a:off x="7818120" y="4837176"/>
            <a:ext cx="37490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8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8046720" y="5111496"/>
            <a:ext cx="594360" cy="594360"/>
          </a:xfrm>
          <a:prstGeom prst="ellipse">
            <a:avLst/>
          </a:prstGeom>
          <a:solidFill>
            <a:srgbClr val="0E7C86"/>
          </a:solidFill>
          <a:ln/>
        </p:spPr>
      </p:sp>
      <p:pic>
        <p:nvPicPr>
          <p:cNvPr id="22" name="Image 2" descr="/home/claude/shopshield_chat/icons/shiel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3987" y="5188763"/>
            <a:ext cx="439826" cy="439826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8823960" y="5038344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Always Safe-Guided</a:t>
            </a:r>
            <a:endParaRPr lang="en-US" sz="1450" dirty="0"/>
          </a:p>
        </p:txBody>
      </p:sp>
      <p:sp>
        <p:nvSpPr>
          <p:cNvPr id="24" name="Text 19"/>
          <p:cNvSpPr/>
          <p:nvPr/>
        </p:nvSpPr>
        <p:spPr>
          <a:xfrm>
            <a:off x="8823960" y="5431536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3749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paths return clear, actionable guidance</a:t>
            </a:r>
            <a:endParaRPr lang="en-US" sz="1150" dirty="0"/>
          </a:p>
        </p:txBody>
      </p:sp>
      <p:sp>
        <p:nvSpPr>
          <p:cNvPr id="25" name="Text 20"/>
          <p:cNvSpPr/>
          <p:nvPr/>
        </p:nvSpPr>
        <p:spPr>
          <a:xfrm>
            <a:off x="11338560" y="651052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7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62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Conversation Example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3749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Seeing both chatbot modes respond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440680" cy="4709160"/>
          </a:xfrm>
          <a:prstGeom prst="roundRect">
            <a:avLst>
              <a:gd name="adj" fmla="val 233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2011680"/>
            <a:ext cx="4617720" cy="502920"/>
          </a:xfrm>
          <a:prstGeom prst="roundRect">
            <a:avLst>
              <a:gd name="adj" fmla="val 21818"/>
            </a:avLst>
          </a:prstGeom>
          <a:solidFill>
            <a:srgbClr val="0E7C86"/>
          </a:solidFill>
          <a:ln/>
        </p:spPr>
      </p:sp>
      <p:sp>
        <p:nvSpPr>
          <p:cNvPr id="6" name="Text 4"/>
          <p:cNvSpPr/>
          <p:nvPr/>
        </p:nvSpPr>
        <p:spPr>
          <a:xfrm>
            <a:off x="1097280" y="2011680"/>
            <a:ext cx="4343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analyze cheap-deal-shop.xyz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868680" y="2743200"/>
            <a:ext cx="548640" cy="548640"/>
          </a:xfrm>
          <a:prstGeom prst="ellipse">
            <a:avLst/>
          </a:prstGeom>
          <a:solidFill>
            <a:srgbClr val="E63946"/>
          </a:solidFill>
          <a:ln/>
        </p:spPr>
      </p:sp>
      <p:pic>
        <p:nvPicPr>
          <p:cNvPr id="8" name="Image 0" descr="/home/claude/shopshield_chat/icons/searc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0003" y="2814523"/>
            <a:ext cx="405994" cy="40599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554480" y="2807208"/>
            <a:ext cx="4160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639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Website Analysis Mode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868680" y="3383280"/>
            <a:ext cx="4800600" cy="2697480"/>
          </a:xfrm>
          <a:prstGeom prst="roundRect">
            <a:avLst>
              <a:gd name="adj" fmla="val 3390"/>
            </a:avLst>
          </a:prstGeom>
          <a:solidFill>
            <a:srgbClr val="F4F8F8"/>
          </a:solidFill>
          <a:ln w="12700">
            <a:solidFill>
              <a:srgbClr val="D7E2E2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51560" y="3520440"/>
            <a:ext cx="443484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3749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Score: High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3749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HTTPS not enabled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3749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Contact page not found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3749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Refund policy not found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3749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Important trust indicators are missing — avoid entering payment details until verified.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6172200" y="1691640"/>
            <a:ext cx="5440680" cy="4709160"/>
          </a:xfrm>
          <a:prstGeom prst="roundRect">
            <a:avLst>
              <a:gd name="adj" fmla="val 233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00000">
                <a:alpha val="1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6583680" y="2011680"/>
            <a:ext cx="4617720" cy="502920"/>
          </a:xfrm>
          <a:prstGeom prst="roundRect">
            <a:avLst>
              <a:gd name="adj" fmla="val 21818"/>
            </a:avLst>
          </a:prstGeom>
          <a:solidFill>
            <a:srgbClr val="0E7C86"/>
          </a:solidFill>
          <a:ln/>
        </p:spPr>
      </p:sp>
      <p:sp>
        <p:nvSpPr>
          <p:cNvPr id="14" name="Text 11"/>
          <p:cNvSpPr/>
          <p:nvPr/>
        </p:nvSpPr>
        <p:spPr>
          <a:xfrm>
            <a:off x="6720840" y="2011680"/>
            <a:ext cx="4343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How do fake shopping sites trick people?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6492240" y="2743200"/>
            <a:ext cx="548640" cy="548640"/>
          </a:xfrm>
          <a:prstGeom prst="ellipse">
            <a:avLst/>
          </a:prstGeom>
          <a:solidFill>
            <a:srgbClr val="2DD4BF"/>
          </a:solidFill>
          <a:ln/>
        </p:spPr>
      </p:sp>
      <p:pic>
        <p:nvPicPr>
          <p:cNvPr id="16" name="Image 1" descr="/home/claude/shopshield_chat/icons/brai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3563" y="2814523"/>
            <a:ext cx="405994" cy="405994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7178040" y="2807208"/>
            <a:ext cx="4160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DD4B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Conversational AI Mode</a:t>
            </a:r>
            <a:endParaRPr lang="en-US" sz="1450" dirty="0"/>
          </a:p>
        </p:txBody>
      </p:sp>
      <p:sp>
        <p:nvSpPr>
          <p:cNvPr id="18" name="Shape 14"/>
          <p:cNvSpPr/>
          <p:nvPr/>
        </p:nvSpPr>
        <p:spPr>
          <a:xfrm>
            <a:off x="6492240" y="3383280"/>
            <a:ext cx="4800600" cy="2697480"/>
          </a:xfrm>
          <a:prstGeom prst="roundRect">
            <a:avLst>
              <a:gd name="adj" fmla="val 3390"/>
            </a:avLst>
          </a:prstGeom>
          <a:solidFill>
            <a:srgbClr val="F4F8F8"/>
          </a:solidFill>
          <a:ln w="12700">
            <a:solidFill>
              <a:srgbClr val="D7E2E2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6675120" y="3520440"/>
            <a:ext cx="443484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3749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CatBot: Fake sites often copy real branding,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3749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 unrealistic discounts, and rush you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3749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countdown timers.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3749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may also lack secure checkout (HTTPS),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3749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reviews, or a real contact address.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3749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verify before entering card details.</a:t>
            </a:r>
            <a:endParaRPr lang="en-US" sz="1150" dirty="0"/>
          </a:p>
        </p:txBody>
      </p:sp>
      <p:sp>
        <p:nvSpPr>
          <p:cNvPr id="20" name="Text 16"/>
          <p:cNvSpPr/>
          <p:nvPr/>
        </p:nvSpPr>
        <p:spPr>
          <a:xfrm>
            <a:off x="11338560" y="651052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7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Features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makes ShopShield AI a complete assistant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5349240" cy="1965960"/>
          </a:xfrm>
          <a:prstGeom prst="roundRect">
            <a:avLst>
              <a:gd name="adj" fmla="val 5581"/>
            </a:avLst>
          </a:prstGeom>
          <a:solidFill>
            <a:srgbClr val="121B2E"/>
          </a:solidFill>
          <a:ln/>
          <a:effectLst>
            <a:outerShdw sx="100000" sy="100000" kx="0" ky="0" algn="bl" rotWithShape="0" blurRad="101600" dist="38100" dir="540000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423160"/>
            <a:ext cx="868680" cy="868680"/>
          </a:xfrm>
          <a:prstGeom prst="ellipse">
            <a:avLst/>
          </a:prstGeom>
          <a:solidFill>
            <a:srgbClr val="0E7C86"/>
          </a:solidFill>
          <a:ln/>
        </p:spPr>
      </p:sp>
      <p:pic>
        <p:nvPicPr>
          <p:cNvPr id="6" name="Image 0" descr="/home/claude/shopshield_chat/icons/lay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1608" y="2536088"/>
            <a:ext cx="642823" cy="64282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920240" y="2148840"/>
            <a:ext cx="3703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Smart Message Routing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920240" y="2697480"/>
            <a:ext cx="3703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8FA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Automatically distinguishes a URL request from a general question — no manual mode switching.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263640" y="1874520"/>
            <a:ext cx="5349240" cy="1965960"/>
          </a:xfrm>
          <a:prstGeom prst="roundRect">
            <a:avLst>
              <a:gd name="adj" fmla="val 5581"/>
            </a:avLst>
          </a:prstGeom>
          <a:solidFill>
            <a:srgbClr val="121B2E"/>
          </a:solidFill>
          <a:ln/>
          <a:effectLst>
            <a:outerShdw sx="100000" sy="100000" kx="0" ky="0" algn="bl" rotWithShape="0" blurRad="101600" dist="38100" dir="5400000">
              <a:srgbClr val="000000">
                <a:alpha val="3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583680" y="2423160"/>
            <a:ext cx="868680" cy="868680"/>
          </a:xfrm>
          <a:prstGeom prst="ellipse">
            <a:avLst/>
          </a:prstGeom>
          <a:solidFill>
            <a:srgbClr val="0E7C86"/>
          </a:solidFill>
          <a:ln/>
        </p:spPr>
      </p:sp>
      <p:pic>
        <p:nvPicPr>
          <p:cNvPr id="11" name="Image 1" descr="/home/claude/shopshield_chat/icons/search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6608" y="2536088"/>
            <a:ext cx="642823" cy="64282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635240" y="2148840"/>
            <a:ext cx="3703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Website Trust Checks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7635240" y="2697480"/>
            <a:ext cx="3703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8FA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Verifies HTTPS, HTTP status, contact pages, and refund policies in real time.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548640" y="4160520"/>
            <a:ext cx="5349240" cy="1965960"/>
          </a:xfrm>
          <a:prstGeom prst="roundRect">
            <a:avLst>
              <a:gd name="adj" fmla="val 5581"/>
            </a:avLst>
          </a:prstGeom>
          <a:solidFill>
            <a:srgbClr val="121B2E"/>
          </a:solidFill>
          <a:ln/>
          <a:effectLst>
            <a:outerShdw sx="100000" sy="100000" kx="0" ky="0" algn="bl" rotWithShape="0" blurRad="101600" dist="38100" dir="5400000">
              <a:srgbClr val="000000">
                <a:alpha val="3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8680" y="4709160"/>
            <a:ext cx="868680" cy="868680"/>
          </a:xfrm>
          <a:prstGeom prst="ellipse">
            <a:avLst/>
          </a:prstGeom>
          <a:solidFill>
            <a:srgbClr val="0E7C86"/>
          </a:solidFill>
          <a:ln/>
        </p:spPr>
      </p:sp>
      <p:pic>
        <p:nvPicPr>
          <p:cNvPr id="16" name="Image 2" descr="/home/claude/shopshield_chat/icons/brai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1608" y="4822088"/>
            <a:ext cx="642823" cy="642823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920240" y="4434840"/>
            <a:ext cx="3703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Local LLM Conversations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1920240" y="4983480"/>
            <a:ext cx="3703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8FA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Qwen2.5 runs locally via Ollama, keeping responses fast, private, and offline-capable.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6263640" y="4160520"/>
            <a:ext cx="5349240" cy="1965960"/>
          </a:xfrm>
          <a:prstGeom prst="roundRect">
            <a:avLst>
              <a:gd name="adj" fmla="val 5581"/>
            </a:avLst>
          </a:prstGeom>
          <a:solidFill>
            <a:srgbClr val="121B2E"/>
          </a:solidFill>
          <a:ln/>
          <a:effectLst>
            <a:outerShdw sx="100000" sy="100000" kx="0" ky="0" algn="bl" rotWithShape="0" blurRad="101600" dist="38100" dir="5400000">
              <a:srgbClr val="000000">
                <a:alpha val="3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583680" y="4709160"/>
            <a:ext cx="868680" cy="868680"/>
          </a:xfrm>
          <a:prstGeom prst="ellipse">
            <a:avLst/>
          </a:prstGeom>
          <a:solidFill>
            <a:srgbClr val="0E7C86"/>
          </a:solidFill>
          <a:ln/>
        </p:spPr>
      </p:sp>
      <p:pic>
        <p:nvPicPr>
          <p:cNvPr id="21" name="Image 3" descr="/home/claude/shopshield_chat/icons/usershiel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96608" y="4822088"/>
            <a:ext cx="642823" cy="642823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635240" y="4434840"/>
            <a:ext cx="3703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Persona-Driven Guidance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7635240" y="4983480"/>
            <a:ext cx="3703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8FA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Responds as "CatBot," a focused cybersecurity persona giving clear, actionable advice.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11338560" y="651052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7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2011680"/>
            <a:ext cx="5029200" cy="5029200"/>
          </a:xfrm>
          <a:prstGeom prst="ellipse">
            <a:avLst/>
          </a:prstGeom>
          <a:solidFill>
            <a:srgbClr val="0E7C86">
              <a:alpha val="14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4206240"/>
            <a:ext cx="4023360" cy="4023360"/>
          </a:xfrm>
          <a:prstGeom prst="ellipse">
            <a:avLst/>
          </a:prstGeom>
          <a:solidFill>
            <a:srgbClr val="14B8B8">
              <a:alpha val="1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646420" y="594360"/>
            <a:ext cx="914400" cy="914400"/>
          </a:xfrm>
          <a:prstGeom prst="ellipse">
            <a:avLst/>
          </a:prstGeom>
          <a:solidFill>
            <a:srgbClr val="0E7C86"/>
          </a:solidFill>
          <a:ln/>
        </p:spPr>
      </p:sp>
      <p:pic>
        <p:nvPicPr>
          <p:cNvPr id="5" name="Image 0" descr="/home/claude/shopshield_chat/icons/cha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5292" y="713232"/>
            <a:ext cx="676656" cy="67665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0" y="1691640"/>
            <a:ext cx="12161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400" dirty="0"/>
          </a:p>
        </p:txBody>
      </p:sp>
      <p:sp>
        <p:nvSpPr>
          <p:cNvPr id="7" name="Shape 4"/>
          <p:cNvSpPr/>
          <p:nvPr/>
        </p:nvSpPr>
        <p:spPr>
          <a:xfrm>
            <a:off x="548640" y="2606040"/>
            <a:ext cx="3383280" cy="3291840"/>
          </a:xfrm>
          <a:prstGeom prst="roundRect">
            <a:avLst>
              <a:gd name="adj" fmla="val 3333"/>
            </a:avLst>
          </a:prstGeom>
          <a:solidFill>
            <a:srgbClr val="121B2E"/>
          </a:solidFill>
          <a:ln/>
          <a:effectLst>
            <a:outerShdw sx="100000" sy="100000" kx="0" ky="0" algn="bl" rotWithShape="0" blurRad="101600" dist="38100" dir="5400000">
              <a:srgbClr val="000000">
                <a:alpha val="30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1874520" y="2971800"/>
            <a:ext cx="731520" cy="731520"/>
          </a:xfrm>
          <a:prstGeom prst="ellipse">
            <a:avLst/>
          </a:prstGeom>
          <a:solidFill>
            <a:srgbClr val="0E7C86"/>
          </a:solidFill>
          <a:ln/>
        </p:spPr>
      </p:sp>
      <p:pic>
        <p:nvPicPr>
          <p:cNvPr id="9" name="Image 1" descr="/home/claude/shopshield_chat/icons/shiel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9618" y="3066898"/>
            <a:ext cx="541325" cy="541325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77240" y="388620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Protects in Real Time</a:t>
            </a:r>
            <a:endParaRPr lang="en-US" sz="1550" dirty="0"/>
          </a:p>
        </p:txBody>
      </p:sp>
      <p:sp>
        <p:nvSpPr>
          <p:cNvPr id="11" name="Text 7"/>
          <p:cNvSpPr/>
          <p:nvPr/>
        </p:nvSpPr>
        <p:spPr>
          <a:xfrm>
            <a:off x="822960" y="4572000"/>
            <a:ext cx="2834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8FA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Instantly flags risky shopping sites the moment a user shares a link.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4251960" y="2606040"/>
            <a:ext cx="3383280" cy="3291840"/>
          </a:xfrm>
          <a:prstGeom prst="roundRect">
            <a:avLst>
              <a:gd name="adj" fmla="val 3333"/>
            </a:avLst>
          </a:prstGeom>
          <a:solidFill>
            <a:srgbClr val="121B2E"/>
          </a:solidFill>
          <a:ln/>
          <a:effectLst>
            <a:outerShdw sx="100000" sy="100000" kx="0" ky="0" algn="bl" rotWithShape="0" blurRad="101600" dist="38100" dir="5400000">
              <a:srgbClr val="000000">
                <a:alpha val="30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5577840" y="2971800"/>
            <a:ext cx="731520" cy="731520"/>
          </a:xfrm>
          <a:prstGeom prst="ellipse">
            <a:avLst/>
          </a:prstGeom>
          <a:solidFill>
            <a:srgbClr val="0E7C86"/>
          </a:solidFill>
          <a:ln/>
        </p:spPr>
      </p:sp>
      <p:pic>
        <p:nvPicPr>
          <p:cNvPr id="14" name="Image 2" descr="/home/claude/shopshield_chat/icons/brai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72938" y="3066898"/>
            <a:ext cx="541325" cy="541325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4480560" y="388620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Educates Through Conversation</a:t>
            </a:r>
            <a:endParaRPr lang="en-US" sz="1550" dirty="0"/>
          </a:p>
        </p:txBody>
      </p:sp>
      <p:sp>
        <p:nvSpPr>
          <p:cNvPr id="16" name="Text 11"/>
          <p:cNvSpPr/>
          <p:nvPr/>
        </p:nvSpPr>
        <p:spPr>
          <a:xfrm>
            <a:off x="4526280" y="4572000"/>
            <a:ext cx="2834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8FA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Goes beyond a verdict — explains the 'why' so users learn to spot scams themselves.</a:t>
            </a:r>
            <a:endParaRPr lang="en-US" sz="1200" dirty="0"/>
          </a:p>
        </p:txBody>
      </p:sp>
      <p:sp>
        <p:nvSpPr>
          <p:cNvPr id="17" name="Shape 12"/>
          <p:cNvSpPr/>
          <p:nvPr/>
        </p:nvSpPr>
        <p:spPr>
          <a:xfrm>
            <a:off x="7955280" y="2606040"/>
            <a:ext cx="3383280" cy="3291840"/>
          </a:xfrm>
          <a:prstGeom prst="roundRect">
            <a:avLst>
              <a:gd name="adj" fmla="val 3333"/>
            </a:avLst>
          </a:prstGeom>
          <a:solidFill>
            <a:srgbClr val="121B2E"/>
          </a:solidFill>
          <a:ln/>
          <a:effectLst>
            <a:outerShdw sx="100000" sy="100000" kx="0" ky="0" algn="bl" rotWithShape="0" blurRad="101600" dist="38100" dir="5400000">
              <a:srgbClr val="000000">
                <a:alpha val="30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9281160" y="2971800"/>
            <a:ext cx="731520" cy="731520"/>
          </a:xfrm>
          <a:prstGeom prst="ellipse">
            <a:avLst/>
          </a:prstGeom>
          <a:solidFill>
            <a:srgbClr val="0E7C86"/>
          </a:solidFill>
          <a:ln/>
        </p:spPr>
      </p:sp>
      <p:pic>
        <p:nvPicPr>
          <p:cNvPr id="19" name="Image 3" descr="/home/claude/shopshield_chat/icons/bulb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76258" y="3066898"/>
            <a:ext cx="541325" cy="541325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8183880" y="388620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to Scale Further</a:t>
            </a:r>
            <a:endParaRPr lang="en-US" sz="1550" dirty="0"/>
          </a:p>
        </p:txBody>
      </p:sp>
      <p:sp>
        <p:nvSpPr>
          <p:cNvPr id="21" name="Text 15"/>
          <p:cNvSpPr/>
          <p:nvPr/>
        </p:nvSpPr>
        <p:spPr>
          <a:xfrm>
            <a:off x="8229600" y="4572000"/>
            <a:ext cx="2834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8FA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LLM and modular checks make it easy to add new detection signals over time.</a:t>
            </a:r>
            <a:endParaRPr lang="en-US" sz="1200" dirty="0"/>
          </a:p>
        </p:txBody>
      </p:sp>
      <p:sp>
        <p:nvSpPr>
          <p:cNvPr id="22" name="Text 16"/>
          <p:cNvSpPr/>
          <p:nvPr/>
        </p:nvSpPr>
        <p:spPr>
          <a:xfrm>
            <a:off x="0" y="6172200"/>
            <a:ext cx="1216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11338560" y="651052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7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ShopShield AI - Cybersecurity Chatbot</dc:title>
  <dc:subject>PptxGenJS Presentation</dc:subject>
  <dc:creator>ShopShield</dc:creator>
  <cp:lastModifiedBy>ShopShield</cp:lastModifiedBy>
  <cp:revision>1</cp:revision>
  <dcterms:created xsi:type="dcterms:W3CDTF">2026-06-19T19:52:05Z</dcterms:created>
  <dcterms:modified xsi:type="dcterms:W3CDTF">2026-06-19T19:52:05Z</dcterms:modified>
</cp:coreProperties>
</file>